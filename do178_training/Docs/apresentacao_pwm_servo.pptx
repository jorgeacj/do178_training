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8" r:id="rId14"/>
    <p:sldId id="269" r:id="rId1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HzD9W/U/j3WMTyZlGPNxneabT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E348DB-90A2-48B9-B8D2-BAB38DD424A8}">
  <a:tblStyle styleId="{E6E348DB-90A2-48B9-B8D2-BAB38DD424A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Controle PWM de Servo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dirty="0">
                <a:solidFill>
                  <a:srgbClr val="888888"/>
                </a:solidFill>
              </a:rPr>
              <a:t>STM32H755 - NUCLEO-H755ZI-Q</a:t>
            </a:r>
            <a:endParaRPr dirty="0"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dirty="0" err="1">
                <a:solidFill>
                  <a:srgbClr val="888888"/>
                </a:solidFill>
              </a:rPr>
              <a:t>Estudo</a:t>
            </a:r>
            <a:r>
              <a:rPr lang="en-US" dirty="0">
                <a:solidFill>
                  <a:srgbClr val="888888"/>
                </a:solidFill>
              </a:rPr>
              <a:t> das </a:t>
            </a:r>
            <a:r>
              <a:rPr lang="en-US" dirty="0" err="1">
                <a:solidFill>
                  <a:srgbClr val="888888"/>
                </a:solidFill>
              </a:rPr>
              <a:t>funções</a:t>
            </a:r>
            <a:r>
              <a:rPr lang="en-US" dirty="0">
                <a:solidFill>
                  <a:srgbClr val="888888"/>
                </a:solidFill>
              </a:rPr>
              <a:t> e </a:t>
            </a:r>
            <a:r>
              <a:rPr lang="en-US" dirty="0" err="1">
                <a:solidFill>
                  <a:srgbClr val="888888"/>
                </a:solidFill>
              </a:rPr>
              <a:t>configurações</a:t>
            </a:r>
            <a:r>
              <a:rPr lang="en-US" dirty="0">
                <a:solidFill>
                  <a:srgbClr val="888888"/>
                </a:solidFill>
              </a:rPr>
              <a:t> do </a:t>
            </a:r>
            <a:r>
              <a:rPr lang="en-US" dirty="0" err="1">
                <a:solidFill>
                  <a:srgbClr val="888888"/>
                </a:solidFill>
              </a:rPr>
              <a:t>módulo</a:t>
            </a:r>
            <a:r>
              <a:rPr lang="en-US" dirty="0">
                <a:solidFill>
                  <a:srgbClr val="888888"/>
                </a:solidFill>
              </a:rPr>
              <a:t> </a:t>
            </a:r>
            <a:r>
              <a:rPr lang="en-US" dirty="0" err="1">
                <a:solidFill>
                  <a:srgbClr val="888888"/>
                </a:solidFill>
              </a:rPr>
              <a:t>pwm_servo</a:t>
            </a:r>
            <a:endParaRPr dirty="0"/>
          </a:p>
        </p:txBody>
      </p:sp>
      <p:sp>
        <p:nvSpPr>
          <p:cNvPr id="2" name="Google Shape;84;p1">
            <a:extLst>
              <a:ext uri="{FF2B5EF4-FFF2-40B4-BE49-F238E27FC236}">
                <a16:creationId xmlns:a16="http://schemas.microsoft.com/office/drawing/2014/main" id="{CE145254-4BEF-405F-7EE5-009D7563DA71}"/>
              </a:ext>
            </a:extLst>
          </p:cNvPr>
          <p:cNvSpPr txBox="1">
            <a:spLocks/>
          </p:cNvSpPr>
          <p:nvPr/>
        </p:nvSpPr>
        <p:spPr>
          <a:xfrm>
            <a:off x="685800" y="3016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en-US" b="1" dirty="0">
                <a:solidFill>
                  <a:schemeClr val="accent1"/>
                </a:solidFill>
              </a:rPr>
              <a:t>Mentoria DO178</a:t>
            </a:r>
          </a:p>
        </p:txBody>
      </p:sp>
      <p:sp>
        <p:nvSpPr>
          <p:cNvPr id="3" name="Google Shape;84;p1">
            <a:extLst>
              <a:ext uri="{FF2B5EF4-FFF2-40B4-BE49-F238E27FC236}">
                <a16:creationId xmlns:a16="http://schemas.microsoft.com/office/drawing/2014/main" id="{962595CE-80E2-6BF0-0BEA-ACC58E4FDBF0}"/>
              </a:ext>
            </a:extLst>
          </p:cNvPr>
          <p:cNvSpPr txBox="1">
            <a:spLocks/>
          </p:cNvSpPr>
          <p:nvPr/>
        </p:nvSpPr>
        <p:spPr>
          <a:xfrm>
            <a:off x="2282952" y="5924550"/>
            <a:ext cx="4785360" cy="642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en-US" sz="2000" b="1" dirty="0">
                <a:solidFill>
                  <a:schemeClr val="accent1"/>
                </a:solidFill>
              </a:rPr>
              <a:t>Grupo de </a:t>
            </a:r>
            <a:r>
              <a:rPr lang="en-US" sz="2000" b="1" dirty="0" err="1">
                <a:solidFill>
                  <a:schemeClr val="accent1"/>
                </a:solidFill>
              </a:rPr>
              <a:t>estudos</a:t>
            </a:r>
            <a:r>
              <a:rPr lang="en-US" sz="2000" b="1" dirty="0">
                <a:solidFill>
                  <a:schemeClr val="accent1"/>
                </a:solidFill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</a:rPr>
              <a:t>engenharia</a:t>
            </a:r>
            <a:r>
              <a:rPr lang="en-US" sz="2000" b="1" dirty="0">
                <a:solidFill>
                  <a:schemeClr val="accent1"/>
                </a:solidFill>
              </a:rPr>
              <a:t> de </a:t>
            </a:r>
            <a:r>
              <a:rPr lang="en-US" sz="2000" b="1" dirty="0" err="1">
                <a:solidFill>
                  <a:schemeClr val="accent1"/>
                </a:solidFill>
              </a:rPr>
              <a:t>sistemas</a:t>
            </a:r>
            <a:endParaRPr lang="en-US" sz="20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Visão Geral</a:t>
            </a:r>
            <a:endParaRPr/>
          </a:p>
        </p:txBody>
      </p:sp>
      <p:sp>
        <p:nvSpPr>
          <p:cNvPr id="91" name="Google Shape;91;p2"/>
          <p:cNvSpPr txBox="1"/>
          <p:nvPr/>
        </p:nvSpPr>
        <p:spPr>
          <a:xfrm>
            <a:off x="457200" y="640080"/>
            <a:ext cx="8229600" cy="135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Projeto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baseado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STM32H755ZITx (dual-core M7/M4)</a:t>
            </a:r>
            <a:endParaRPr sz="1800"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Controle de servo RC via PWM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usando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timers do STM32</a:t>
            </a:r>
            <a:endParaRPr sz="1800"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dedicado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pwm_servo.c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pwm_servo.h</a:t>
            </a:r>
            <a:endParaRPr sz="1800" dirty="0"/>
          </a:p>
        </p:txBody>
      </p:sp>
      <p:pic>
        <p:nvPicPr>
          <p:cNvPr id="1026" name="Picture 2" descr="img">
            <a:extLst>
              <a:ext uri="{FF2B5EF4-FFF2-40B4-BE49-F238E27FC236}">
                <a16:creationId xmlns:a16="http://schemas.microsoft.com/office/drawing/2014/main" id="{C2560FE8-7B33-239D-0F90-14489385F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736" y="2716124"/>
            <a:ext cx="3678936" cy="4028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A94138-C55B-1480-5BF4-1500B0035191}"/>
              </a:ext>
            </a:extLst>
          </p:cNvPr>
          <p:cNvSpPr txBox="1"/>
          <p:nvPr/>
        </p:nvSpPr>
        <p:spPr>
          <a:xfrm>
            <a:off x="457200" y="2155135"/>
            <a:ext cx="41344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PWM (Pulse Width Modulation)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Configuração dos Timers (STM32CubeMX)</a:t>
            </a:r>
            <a:endParaRPr/>
          </a:p>
        </p:txBody>
      </p:sp>
      <p:graphicFrame>
        <p:nvGraphicFramePr>
          <p:cNvPr id="97" name="Google Shape;97;p3"/>
          <p:cNvGraphicFramePr/>
          <p:nvPr>
            <p:extLst>
              <p:ext uri="{D42A27DB-BD31-4B8C-83A1-F6EECF244321}">
                <p14:modId xmlns:p14="http://schemas.microsoft.com/office/powerpoint/2010/main" val="1348815493"/>
              </p:ext>
            </p:extLst>
          </p:nvPr>
        </p:nvGraphicFramePr>
        <p:xfrm>
          <a:off x="548640" y="1261872"/>
          <a:ext cx="6364224" cy="2651760"/>
        </p:xfrm>
        <a:graphic>
          <a:graphicData uri="http://schemas.openxmlformats.org/drawingml/2006/table">
            <a:tbl>
              <a:tblPr firstRow="1" bandRow="1">
                <a:noFill/>
                <a:tableStyleId>{E6E348DB-90A2-48B9-B8D2-BAB38DD424A8}</a:tableStyleId>
              </a:tblPr>
              <a:tblGrid>
                <a:gridCol w="3182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2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 err="1"/>
                        <a:t>Parâmetro</a:t>
                      </a:r>
                      <a:endParaRPr sz="16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/>
                        <a:t>TIM2</a:t>
                      </a: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Prescaler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/>
                        <a:t>199</a:t>
                      </a:r>
                      <a:endParaRPr sz="16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Counter Period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19999</a:t>
                      </a: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Canais PWM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/>
                        <a:t>CH1</a:t>
                      </a:r>
                      <a:endParaRPr sz="16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/>
                        <a:t>Pino (CH1)</a:t>
                      </a:r>
                      <a:endParaRPr sz="16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/>
                        <a:t>PA0</a:t>
                      </a:r>
                      <a:endParaRPr sz="16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Frequência PWM</a:t>
            </a:r>
            <a:endParaRPr/>
          </a:p>
        </p:txBody>
      </p:sp>
      <p:sp>
        <p:nvSpPr>
          <p:cNvPr id="103" name="Google Shape;103;p4"/>
          <p:cNvSpPr txBox="1"/>
          <p:nvPr/>
        </p:nvSpPr>
        <p:spPr>
          <a:xfrm>
            <a:off x="457200" y="1097280"/>
            <a:ext cx="8229600" cy="938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Frequência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 = Clock / (PSC+1) / (Period+1) ≈ 50 Hz</a:t>
            </a:r>
            <a:endParaRPr sz="1600" dirty="0">
              <a:latin typeface="Consolas" panose="020B0609020204030204" pitchFamily="49" charset="0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Período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 de 20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ms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 —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padrão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 para servos RC</a:t>
            </a:r>
            <a:endParaRPr sz="16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Estrutura Servo_HandleTypeDef</a:t>
            </a:r>
            <a:endParaRPr/>
          </a:p>
        </p:txBody>
      </p:sp>
      <p:sp>
        <p:nvSpPr>
          <p:cNvPr id="109" name="Google Shape;109;p5"/>
          <p:cNvSpPr txBox="1"/>
          <p:nvPr/>
        </p:nvSpPr>
        <p:spPr>
          <a:xfrm>
            <a:off x="457200" y="1097280"/>
            <a:ext cx="8229600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TIM_HandleTypeDef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htim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  // Timer (ex: &amp;htim2)</a:t>
            </a: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uint32_t channel;          // Canal (ex: TIM_CHANNEL_1)</a:t>
            </a: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uint32_t 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minPulse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        // 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Pulso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mínimo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(~0°)</a:t>
            </a: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uint32_t 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maxPulse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        // 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Pulso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máximo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(~180°)</a:t>
            </a: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Servo_HandleTypeDef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Encapsula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timer, canal e 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faixa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de 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pulso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para 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cada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servo.</a:t>
            </a:r>
            <a:endParaRPr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Constantes de Pulso</a:t>
            </a:r>
            <a:endParaRPr/>
          </a:p>
        </p:txBody>
      </p:sp>
      <p:sp>
        <p:nvSpPr>
          <p:cNvPr id="115" name="Google Shape;115;p6"/>
          <p:cNvSpPr txBox="1"/>
          <p:nvPr/>
        </p:nvSpPr>
        <p:spPr>
          <a:xfrm>
            <a:off x="457200" y="1097280"/>
            <a:ext cx="82296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#define SERVO_MIN_PULSE   530   // ~0,53 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→ 0°</a:t>
            </a: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#define SERVO_MAX_PULSE   2400  // ~2,4 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→ 180°</a:t>
            </a: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Faixa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típica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de servos RC: 500 µs a 2400 µs</a:t>
            </a: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 Period=19999: 1 count ≈ 1 µs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D311D2-1C60-7BF2-8D3C-8037974A7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" y="2942633"/>
            <a:ext cx="5237543" cy="3325198"/>
          </a:xfrm>
          <a:prstGeom prst="rect">
            <a:avLst/>
          </a:prstGeom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07A0537-379A-66E4-09C3-A25A75174A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5435906"/>
              </p:ext>
            </p:extLst>
          </p:nvPr>
        </p:nvGraphicFramePr>
        <p:xfrm>
          <a:off x="5880862" y="2502975"/>
          <a:ext cx="3140075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4" imgW="5829257" imgH="7543568" progId="AcroExch.Document.DC">
                  <p:embed/>
                </p:oleObj>
              </mc:Choice>
              <mc:Fallback>
                <p:oleObj name="Acrobat Document" r:id="rId4" imgW="5829257" imgH="7543568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80862" y="2502975"/>
                        <a:ext cx="3140075" cy="406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Função</a:t>
            </a:r>
            <a:r>
              <a:rPr lang="en-US" sz="2400" b="1" dirty="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400" b="1" dirty="0" err="1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Servo_PWM_Start</a:t>
            </a:r>
            <a:endParaRPr dirty="0"/>
          </a:p>
        </p:txBody>
      </p:sp>
      <p:sp>
        <p:nvSpPr>
          <p:cNvPr id="121" name="Google Shape;121;p7"/>
          <p:cNvSpPr txBox="1"/>
          <p:nvPr/>
        </p:nvSpPr>
        <p:spPr>
          <a:xfrm>
            <a:off x="457200" y="1097280"/>
            <a:ext cx="8229600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HAL_StatusTypeDef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Servo_PWM_Start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Servo_HandleTypeDef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*servo) {</a:t>
            </a: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HAL_TIM_PWM_Start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(servo-&gt;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htim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servo-&gt;channel) != HAL_OK) {</a:t>
            </a: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return HAL_ERROR;</a:t>
            </a: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HAL_OK;</a:t>
            </a: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Inicia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US" sz="16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sinal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PWM no canal </a:t>
            </a:r>
            <a:r>
              <a:rPr lang="en-US" sz="16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configurado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do timer.</a:t>
            </a:r>
            <a:endParaRPr sz="16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Função: Servo_SetAngle</a:t>
            </a:r>
            <a:endParaRPr/>
          </a:p>
        </p:txBody>
      </p:sp>
      <p:sp>
        <p:nvSpPr>
          <p:cNvPr id="127" name="Google Shape;127;p8"/>
          <p:cNvSpPr txBox="1"/>
          <p:nvPr/>
        </p:nvSpPr>
        <p:spPr>
          <a:xfrm>
            <a:off x="246888" y="1097275"/>
            <a:ext cx="8795637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Fórmula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pulse = 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minPulse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(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maxPulse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− 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minPulse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× angle / 180</a:t>
            </a: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uint32_t pulse = servo-&gt;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minPulse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+(((servo-&gt;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maxPulse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servo-&gt;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minPulse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* (uint32_t)angle) / 180);</a:t>
            </a: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__HAL_TIM_SET_COMPARE(servo-&gt;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htim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servo-&gt;channel, pulse);</a:t>
            </a: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• Define o </a:t>
            </a:r>
            <a:r>
              <a:rPr lang="en-US" sz="16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ângulo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do servo (0° a 180°)</a:t>
            </a:r>
            <a:b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• </a:t>
            </a:r>
            <a:r>
              <a:rPr lang="en-US" sz="16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Mapeamento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linear: </a:t>
            </a:r>
            <a:r>
              <a:rPr lang="en-US" sz="16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ângulo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n-US" sz="16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largura</a:t>
            </a:r>
            <a:r>
              <a:rPr lang="en-U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de </a:t>
            </a:r>
            <a:r>
              <a:rPr lang="en-US" sz="16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pulso</a:t>
            </a:r>
            <a:endParaRPr sz="16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/>
        </p:nvSpPr>
        <p:spPr>
          <a:xfrm>
            <a:off x="280219" y="294967"/>
            <a:ext cx="82296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8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CCR (Capture/Compare Register )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133" name="Google Shape;133;p9"/>
          <p:cNvSpPr txBox="1"/>
          <p:nvPr/>
        </p:nvSpPr>
        <p:spPr>
          <a:xfrm>
            <a:off x="280219" y="556557"/>
            <a:ext cx="8229600" cy="589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CCR -&gt;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registrador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armazena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valor de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comparação</a:t>
            </a:r>
            <a:endParaRPr lang="en-US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canal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seu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CCR: </a:t>
            </a: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CH1-&gt;CCR1, </a:t>
            </a:r>
          </a:p>
          <a:p>
            <a:pPr lvl="0">
              <a:spcBef>
                <a:spcPts val="600"/>
              </a:spcBef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CH2-&gt;CCR2, </a:t>
            </a:r>
          </a:p>
          <a:p>
            <a:pPr lvl="0">
              <a:spcBef>
                <a:spcPts val="600"/>
              </a:spcBef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CH3-&gt;CCR3, </a:t>
            </a:r>
          </a:p>
          <a:p>
            <a:pPr lvl="0">
              <a:spcBef>
                <a:spcPts val="600"/>
              </a:spcBef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CH4-&gt;CCR4</a:t>
            </a: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Funcionamento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PWM:</a:t>
            </a:r>
            <a:endParaRPr sz="1600"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Contador &lt; CCR →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saída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ALTA</a:t>
            </a:r>
            <a:endParaRPr sz="1600"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Contador ≥ CCR →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saída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BAIXA</a:t>
            </a:r>
            <a:endParaRPr sz="1600"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CCR define a </a:t>
            </a:r>
            <a:r>
              <a:rPr lang="en-US" sz="1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largura</a:t>
            </a: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US" sz="1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pulso</a:t>
            </a: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(duty cycle)</a:t>
            </a:r>
          </a:p>
          <a:p>
            <a:r>
              <a:rPr lang="en-US" b="1" dirty="0" err="1"/>
              <a:t>Exemplo</a:t>
            </a:r>
            <a:r>
              <a:rPr lang="en-US" b="1" dirty="0"/>
              <a:t> com </a:t>
            </a:r>
            <a:r>
              <a:rPr lang="en-US" b="1" dirty="0" err="1"/>
              <a:t>números</a:t>
            </a:r>
            <a:r>
              <a:rPr lang="en-US" b="1" dirty="0"/>
              <a:t>:</a:t>
            </a:r>
          </a:p>
          <a:p>
            <a:pPr lvl="0"/>
            <a:r>
              <a:rPr lang="en-US" dirty="0"/>
              <a:t>Period (ARR) = 19999 -&gt; </a:t>
            </a:r>
            <a:r>
              <a:rPr lang="en-US" dirty="0" err="1"/>
              <a:t>período</a:t>
            </a:r>
            <a:r>
              <a:rPr lang="en-US" dirty="0"/>
              <a:t> total ≈ 20 </a:t>
            </a:r>
            <a:r>
              <a:rPr lang="en-US" dirty="0" err="1"/>
              <a:t>ms</a:t>
            </a:r>
            <a:endParaRPr lang="en-US" dirty="0"/>
          </a:p>
          <a:p>
            <a:pPr lvl="0"/>
            <a:r>
              <a:rPr lang="pt-BR" dirty="0"/>
              <a:t>CCR = 530 -&gt; pulso alto durante 530 contagens ≈ 0,53 ms</a:t>
            </a:r>
          </a:p>
          <a:p>
            <a:pPr lvl="0"/>
            <a:endParaRPr lang="en-US" dirty="0"/>
          </a:p>
          <a:p>
            <a:r>
              <a:rPr lang="pt-BR" dirty="0"/>
              <a:t>Tempo:     |---- 0,53ms ----|-------- 19,47ms --------|</a:t>
            </a:r>
            <a:endParaRPr lang="en-US" dirty="0"/>
          </a:p>
          <a:p>
            <a:r>
              <a:rPr lang="pt-BR" dirty="0"/>
              <a:t>                 |===</a:t>
            </a:r>
            <a:r>
              <a:rPr lang="pt-BR" dirty="0">
                <a:sym typeface="Wingdings" panose="05000000000000000000" pitchFamily="2" charset="2"/>
              </a:rPr>
              <a:t>-&gt;</a:t>
            </a:r>
            <a:r>
              <a:rPr lang="pt-BR" dirty="0"/>
              <a:t>|             |                                   |</a:t>
            </a:r>
            <a:endParaRPr lang="en-US" dirty="0"/>
          </a:p>
          <a:p>
            <a:r>
              <a:rPr lang="pt-BR" dirty="0"/>
              <a:t>Sinal:     ALTO             BAIXO                     ALTO (novo ciclo)</a:t>
            </a:r>
            <a:endParaRPr lang="en-US" dirty="0"/>
          </a:p>
          <a:p>
            <a:r>
              <a:rPr lang="pt-BR" dirty="0"/>
              <a:t>           </a:t>
            </a:r>
            <a:endParaRPr lang="en-US" dirty="0"/>
          </a:p>
          <a:p>
            <a:r>
              <a:rPr lang="pt-BR" dirty="0"/>
              <a:t>                 </a:t>
            </a:r>
            <a:r>
              <a:rPr lang="en-US" dirty="0"/>
              <a:t>^                      ^</a:t>
            </a:r>
          </a:p>
          <a:p>
            <a:r>
              <a:rPr lang="en-US" dirty="0"/>
              <a:t>                 0                CCR=530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5E31F5-E4D6-CB00-B5C9-055D43A93044}"/>
              </a:ext>
            </a:extLst>
          </p:cNvPr>
          <p:cNvSpPr txBox="1"/>
          <p:nvPr/>
        </p:nvSpPr>
        <p:spPr>
          <a:xfrm>
            <a:off x="368711" y="1397526"/>
            <a:ext cx="8598311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genial" panose="02000503040000020004" pitchFamily="2" charset="0"/>
                <a:ea typeface="Calibri"/>
                <a:cs typeface="Calibri"/>
                <a:sym typeface="Calibri"/>
              </a:rPr>
              <a:t>__HAL_TIM_SET_COMPARE(</a:t>
            </a:r>
            <a:r>
              <a:rPr lang="en-US" sz="1600" dirty="0" err="1">
                <a:solidFill>
                  <a:schemeClr val="dk1"/>
                </a:solidFill>
                <a:latin typeface="Congenial" panose="02000503040000020004" pitchFamily="2" charset="0"/>
                <a:ea typeface="Calibri"/>
                <a:cs typeface="Calibri"/>
                <a:sym typeface="Calibri"/>
              </a:rPr>
              <a:t>htim</a:t>
            </a:r>
            <a:r>
              <a:rPr lang="en-US" sz="1600" dirty="0">
                <a:solidFill>
                  <a:schemeClr val="dk1"/>
                </a:solidFill>
                <a:latin typeface="Congenial" panose="02000503040000020004" pitchFamily="2" charset="0"/>
                <a:ea typeface="Calibri"/>
                <a:cs typeface="Calibri"/>
                <a:sym typeface="Calibri"/>
              </a:rPr>
              <a:t>, channel, pulse) → </a:t>
            </a:r>
            <a:r>
              <a:rPr lang="en-US" sz="1600" dirty="0" err="1">
                <a:solidFill>
                  <a:schemeClr val="dk1"/>
                </a:solidFill>
                <a:latin typeface="Congenial" panose="02000503040000020004" pitchFamily="2" charset="0"/>
                <a:ea typeface="Calibri"/>
                <a:cs typeface="Calibri"/>
                <a:sym typeface="Calibri"/>
              </a:rPr>
              <a:t>escreve</a:t>
            </a:r>
            <a:r>
              <a:rPr lang="en-US" sz="1600" dirty="0">
                <a:solidFill>
                  <a:schemeClr val="dk1"/>
                </a:solidFill>
                <a:latin typeface="Congenial" panose="02000503040000020004" pitchFamily="2" charset="0"/>
                <a:ea typeface="Calibri"/>
                <a:cs typeface="Calibri"/>
                <a:sym typeface="Calibri"/>
              </a:rPr>
              <a:t> 'pulse' no CCR do canal</a:t>
            </a:r>
            <a:endParaRPr lang="en-US" sz="1600" dirty="0">
              <a:latin typeface="Congenial" panose="02000503040000020004" pitchFamily="2" charset="0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Congenial" panose="02000503040000020004" pitchFamily="2" charset="0"/>
                <a:ea typeface="Calibri"/>
                <a:cs typeface="Calibri"/>
                <a:sym typeface="Calibri"/>
              </a:rPr>
              <a:t>Equivalente</a:t>
            </a:r>
            <a:r>
              <a:rPr lang="en-US" sz="1600" dirty="0">
                <a:solidFill>
                  <a:schemeClr val="dk1"/>
                </a:solidFill>
                <a:latin typeface="Congenial" panose="02000503040000020004" pitchFamily="2" charset="0"/>
                <a:ea typeface="Calibri"/>
                <a:cs typeface="Calibri"/>
                <a:sym typeface="Calibri"/>
              </a:rPr>
              <a:t> a: htim2.Instance-&gt;CCR1 = pulse;</a:t>
            </a:r>
            <a:endParaRPr lang="en-US" sz="1600" dirty="0">
              <a:latin typeface="Congenial" panose="02000503040000020004" pitchFamily="2" charset="0"/>
            </a:endParaRPr>
          </a:p>
        </p:txBody>
      </p:sp>
      <p:sp>
        <p:nvSpPr>
          <p:cNvPr id="6" name="Google Shape;132;p9">
            <a:extLst>
              <a:ext uri="{FF2B5EF4-FFF2-40B4-BE49-F238E27FC236}">
                <a16:creationId xmlns:a16="http://schemas.microsoft.com/office/drawing/2014/main" id="{EDE7FC74-8857-98D1-B51F-50271F64D373}"/>
              </a:ext>
            </a:extLst>
          </p:cNvPr>
          <p:cNvSpPr txBox="1"/>
          <p:nvPr/>
        </p:nvSpPr>
        <p:spPr>
          <a:xfrm>
            <a:off x="368711" y="413962"/>
            <a:ext cx="82296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800" b="1" dirty="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__HAL_TIM_SET_COMPARE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E15A5E-82FA-BBBC-7433-0704CB203AE6}"/>
              </a:ext>
            </a:extLst>
          </p:cNvPr>
          <p:cNvSpPr txBox="1"/>
          <p:nvPr/>
        </p:nvSpPr>
        <p:spPr>
          <a:xfrm>
            <a:off x="368711" y="2181076"/>
            <a:ext cx="68481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genial" panose="02000503040000020004" pitchFamily="2" charset="0"/>
                <a:ea typeface="Consolas"/>
                <a:cs typeface="Consolas"/>
                <a:sym typeface="Consolas"/>
              </a:rPr>
              <a:t>__HAL_TIM_SET_COMPARE(servo-&gt;</a:t>
            </a:r>
            <a:r>
              <a:rPr lang="en-US" sz="1600" dirty="0" err="1">
                <a:solidFill>
                  <a:schemeClr val="dk1"/>
                </a:solidFill>
                <a:latin typeface="Congenial" panose="02000503040000020004" pitchFamily="2" charset="0"/>
                <a:ea typeface="Consolas"/>
                <a:cs typeface="Consolas"/>
                <a:sym typeface="Consolas"/>
              </a:rPr>
              <a:t>htim</a:t>
            </a:r>
            <a:r>
              <a:rPr lang="en-US" sz="1600" dirty="0">
                <a:solidFill>
                  <a:schemeClr val="dk1"/>
                </a:solidFill>
                <a:latin typeface="Congenial" panose="02000503040000020004" pitchFamily="2" charset="0"/>
                <a:ea typeface="Consolas"/>
                <a:cs typeface="Consolas"/>
                <a:sym typeface="Consolas"/>
              </a:rPr>
              <a:t>, servo-&gt;channel, pulse);</a:t>
            </a:r>
            <a:endParaRPr lang="en-US" sz="1600" dirty="0">
              <a:latin typeface="Congenial" panose="02000503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238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Função: Servo_SetVal</a:t>
            </a:r>
            <a:endParaRPr/>
          </a:p>
        </p:txBody>
      </p:sp>
      <p:sp>
        <p:nvSpPr>
          <p:cNvPr id="139" name="Google Shape;139;p10"/>
          <p:cNvSpPr txBox="1"/>
          <p:nvPr/>
        </p:nvSpPr>
        <p:spPr>
          <a:xfrm>
            <a:off x="356616" y="1143000"/>
            <a:ext cx="8229600" cy="1554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Define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posição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percentual (0 a 100)</a:t>
            </a:r>
            <a:endParaRPr sz="1600"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Útil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controle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genérico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'throttle'</a:t>
            </a:r>
            <a:endParaRPr sz="1600"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Fórmula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pulse =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minPulse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(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maxPulse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−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minPulse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×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 100</a:t>
            </a:r>
            <a:endParaRPr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Função: Servo_StepTowardAngle</a:t>
            </a:r>
            <a:endParaRPr/>
          </a:p>
        </p:txBody>
      </p:sp>
      <p:sp>
        <p:nvSpPr>
          <p:cNvPr id="145" name="Google Shape;145;p11"/>
          <p:cNvSpPr txBox="1"/>
          <p:nvPr/>
        </p:nvSpPr>
        <p:spPr>
          <a:xfrm>
            <a:off x="457200" y="1097280"/>
            <a:ext cx="8229600" cy="2154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 panose="020B0609020204030204" pitchFamily="49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• Move o servo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em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passos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em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direção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ao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ângulo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alvo</a:t>
            </a:r>
            <a:endParaRPr sz="1600" dirty="0">
              <a:latin typeface="Consolas" panose="020B0609020204030204" pitchFamily="49" charset="0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• Evita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movimentos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bruscos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 —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transição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 suave</a:t>
            </a:r>
            <a:endParaRPr sz="1600" dirty="0">
              <a:latin typeface="Consolas" panose="020B0609020204030204" pitchFamily="49" charset="0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•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Retorna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 o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ângulo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atualizado</a:t>
            </a:r>
            <a:endParaRPr sz="1600" dirty="0">
              <a:latin typeface="Consolas" panose="020B0609020204030204" pitchFamily="49" charset="0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 panose="020B0609020204030204" pitchFamily="49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Uso: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currentAngle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 =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Servo_StepTowardAngle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(&amp;servo1,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currentAngle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,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targetAngle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,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stepSize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);</a:t>
            </a:r>
            <a:endParaRPr sz="16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Uso no main.c</a:t>
            </a:r>
            <a:endParaRPr/>
          </a:p>
        </p:txBody>
      </p:sp>
      <p:sp>
        <p:nvSpPr>
          <p:cNvPr id="155" name="Google Shape;155;p12"/>
          <p:cNvSpPr txBox="1"/>
          <p:nvPr/>
        </p:nvSpPr>
        <p:spPr>
          <a:xfrm>
            <a:off x="457200" y="1097280"/>
            <a:ext cx="8229600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Servo_HandleTypeDef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servo1 = {</a:t>
            </a:r>
            <a:b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   .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htim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= &amp;htim2,</a:t>
            </a:r>
            <a:b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   .channel = TIM_CHANNEL_1,</a:t>
            </a:r>
            <a:b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   .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minPulse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= SERVO_MIN_PULSE, </a:t>
            </a:r>
            <a:r>
              <a:rPr lang="en-US" sz="1600" dirty="0">
                <a:latin typeface="Consolas" panose="020B0609020204030204" pitchFamily="49" charset="0"/>
              </a:rPr>
              <a:t>// corresponds to ~500µs (0°)</a:t>
            </a:r>
            <a:b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   .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maxPulse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= SERVO_MAX_PULSE  </a:t>
            </a:r>
            <a:r>
              <a:rPr lang="en-US" sz="1600" dirty="0">
                <a:latin typeface="Consolas" panose="020B0609020204030204" pitchFamily="49" charset="0"/>
              </a:rPr>
              <a:t>// corresponds to ~2400µs (180°)</a:t>
            </a:r>
            <a:b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};</a:t>
            </a:r>
          </a:p>
          <a:p>
            <a:pPr lvl="0"/>
            <a:b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Servo_PWM_Start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(&amp;servo1); </a:t>
            </a:r>
            <a:r>
              <a:rPr lang="en-US" sz="1600" dirty="0">
                <a:latin typeface="Consolas" panose="020B0609020204030204" pitchFamily="49" charset="0"/>
              </a:rPr>
              <a:t>//Start PWM on TIM2_CH1</a:t>
            </a:r>
            <a:b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b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No loop:</a:t>
            </a:r>
            <a:b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Servo_SetAngle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(&amp;servo1, </a:t>
            </a:r>
            <a:r>
              <a:rPr lang="en-US" sz="1600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targetAngle</a:t>
            </a:r>
            <a:r>
              <a:rPr lang="en-U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);  </a:t>
            </a:r>
            <a:endParaRPr sz="1600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012C3B-8EE9-0481-8BB0-B7BDCB18A275}"/>
              </a:ext>
            </a:extLst>
          </p:cNvPr>
          <p:cNvSpPr txBox="1"/>
          <p:nvPr/>
        </p:nvSpPr>
        <p:spPr>
          <a:xfrm>
            <a:off x="457200" y="4345872"/>
            <a:ext cx="75462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5C2699"/>
                </a:solidFill>
                <a:effectLst/>
                <a:latin typeface="source-code-pro"/>
              </a:rPr>
              <a:t>HAL_TIM_PWM_Start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(&amp;htim2, TIM_CHANNEL_2); </a:t>
            </a:r>
            <a:r>
              <a:rPr lang="en-US" b="0" i="0" dirty="0">
                <a:solidFill>
                  <a:srgbClr val="007400"/>
                </a:solidFill>
                <a:effectLst/>
                <a:latin typeface="source-code-pro"/>
              </a:rPr>
              <a:t>// Start PWM on TIM2_CH1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79E541-D3AA-8505-5DA3-373ACD6FFF28}"/>
              </a:ext>
            </a:extLst>
          </p:cNvPr>
          <p:cNvSpPr txBox="1"/>
          <p:nvPr/>
        </p:nvSpPr>
        <p:spPr>
          <a:xfrm>
            <a:off x="457200" y="4900348"/>
            <a:ext cx="6730180" cy="1293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Você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pode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ajustar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depois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o duty cycle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dinâmicamente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(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por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exemplo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):</a:t>
            </a:r>
          </a:p>
          <a:p>
            <a:pPr algn="l">
              <a:lnSpc>
                <a:spcPts val="2400"/>
              </a:lnSpc>
              <a:buNone/>
            </a:pPr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rgbClr val="5C2699"/>
                </a:solidFill>
                <a:latin typeface="source-code-pro"/>
              </a:rPr>
              <a:t>__HAL_TIM_SET_COMPARE</a:t>
            </a:r>
            <a:r>
              <a:rPr lang="en-US" dirty="0">
                <a:solidFill>
                  <a:srgbClr val="242424"/>
                </a:solidFill>
                <a:latin typeface="source-code-pro"/>
              </a:rPr>
              <a:t>(&amp;htim2, TIM_CHANNEL_2, </a:t>
            </a:r>
            <a:r>
              <a:rPr lang="en-US" dirty="0">
                <a:solidFill>
                  <a:srgbClr val="1C00CF"/>
                </a:solidFill>
                <a:latin typeface="source-code-pro"/>
              </a:rPr>
              <a:t>500</a:t>
            </a:r>
            <a:r>
              <a:rPr lang="en-US" dirty="0">
                <a:solidFill>
                  <a:srgbClr val="242424"/>
                </a:solidFill>
                <a:latin typeface="source-code-pro"/>
              </a:rPr>
              <a:t>); </a:t>
            </a:r>
            <a:r>
              <a:rPr lang="en-US" dirty="0">
                <a:solidFill>
                  <a:srgbClr val="007400"/>
                </a:solidFill>
                <a:latin typeface="source-code-pro"/>
              </a:rPr>
              <a:t>// 50% duty cycle</a:t>
            </a:r>
            <a:b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</a:br>
            <a:endParaRPr lang="en-US" b="0" i="0" dirty="0">
              <a:solidFill>
                <a:srgbClr val="242424"/>
              </a:solidFill>
              <a:effectLst/>
              <a:latin typeface="source-code-pro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E703ECE-FEB9-CE6B-D395-DADEA20AABB9}"/>
              </a:ext>
            </a:extLst>
          </p:cNvPr>
          <p:cNvGrpSpPr/>
          <p:nvPr/>
        </p:nvGrpSpPr>
        <p:grpSpPr>
          <a:xfrm>
            <a:off x="237744" y="2971800"/>
            <a:ext cx="228600" cy="1617838"/>
            <a:chOff x="237744" y="2971800"/>
            <a:chExt cx="228600" cy="1617838"/>
          </a:xfrm>
        </p:grpSpPr>
        <p:sp>
          <p:nvSpPr>
            <p:cNvPr id="12" name="Arrow: Bent 11">
              <a:extLst>
                <a:ext uri="{FF2B5EF4-FFF2-40B4-BE49-F238E27FC236}">
                  <a16:creationId xmlns:a16="http://schemas.microsoft.com/office/drawing/2014/main" id="{F6FEE979-9220-C3C2-8787-DE5E64D0C004}"/>
                </a:ext>
              </a:extLst>
            </p:cNvPr>
            <p:cNvSpPr/>
            <p:nvPr/>
          </p:nvSpPr>
          <p:spPr>
            <a:xfrm>
              <a:off x="237744" y="2971800"/>
              <a:ext cx="228600" cy="749807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Arrow: Bent 12">
              <a:extLst>
                <a:ext uri="{FF2B5EF4-FFF2-40B4-BE49-F238E27FC236}">
                  <a16:creationId xmlns:a16="http://schemas.microsoft.com/office/drawing/2014/main" id="{86457F4C-6BDC-8E5D-84D7-0B4AB9C033FE}"/>
                </a:ext>
              </a:extLst>
            </p:cNvPr>
            <p:cNvSpPr/>
            <p:nvPr/>
          </p:nvSpPr>
          <p:spPr>
            <a:xfrm flipV="1">
              <a:off x="237744" y="3721607"/>
              <a:ext cx="228600" cy="868031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E595BBE-A94D-7035-A105-F591B5D494E6}"/>
              </a:ext>
            </a:extLst>
          </p:cNvPr>
          <p:cNvGrpSpPr/>
          <p:nvPr/>
        </p:nvGrpSpPr>
        <p:grpSpPr>
          <a:xfrm flipH="1">
            <a:off x="6510525" y="2864459"/>
            <a:ext cx="228599" cy="2962826"/>
            <a:chOff x="237744" y="2971800"/>
            <a:chExt cx="228600" cy="1617838"/>
          </a:xfrm>
        </p:grpSpPr>
        <p:sp>
          <p:nvSpPr>
            <p:cNvPr id="16" name="Arrow: Bent 15">
              <a:extLst>
                <a:ext uri="{FF2B5EF4-FFF2-40B4-BE49-F238E27FC236}">
                  <a16:creationId xmlns:a16="http://schemas.microsoft.com/office/drawing/2014/main" id="{9DCF9795-474F-2D19-E33D-2CF687D4BE69}"/>
                </a:ext>
              </a:extLst>
            </p:cNvPr>
            <p:cNvSpPr/>
            <p:nvPr/>
          </p:nvSpPr>
          <p:spPr>
            <a:xfrm>
              <a:off x="237744" y="2971800"/>
              <a:ext cx="228600" cy="749807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Arrow: Bent 16">
              <a:extLst>
                <a:ext uri="{FF2B5EF4-FFF2-40B4-BE49-F238E27FC236}">
                  <a16:creationId xmlns:a16="http://schemas.microsoft.com/office/drawing/2014/main" id="{3F058BC0-D1F4-3C67-36DE-8626CF832650}"/>
                </a:ext>
              </a:extLst>
            </p:cNvPr>
            <p:cNvSpPr/>
            <p:nvPr/>
          </p:nvSpPr>
          <p:spPr>
            <a:xfrm flipV="1">
              <a:off x="237744" y="3721607"/>
              <a:ext cx="228600" cy="868031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Resumo Técnico</a:t>
            </a:r>
            <a:endParaRPr/>
          </a:p>
        </p:txBody>
      </p:sp>
      <p:graphicFrame>
        <p:nvGraphicFramePr>
          <p:cNvPr id="161" name="Google Shape;161;p13"/>
          <p:cNvGraphicFramePr/>
          <p:nvPr>
            <p:extLst>
              <p:ext uri="{D42A27DB-BD31-4B8C-83A1-F6EECF244321}">
                <p14:modId xmlns:p14="http://schemas.microsoft.com/office/powerpoint/2010/main" val="2566273425"/>
              </p:ext>
            </p:extLst>
          </p:nvPr>
        </p:nvGraphicFramePr>
        <p:xfrm>
          <a:off x="457200" y="1188720"/>
          <a:ext cx="8229600" cy="2926000"/>
        </p:xfrm>
        <a:graphic>
          <a:graphicData uri="http://schemas.openxmlformats.org/drawingml/2006/table">
            <a:tbl>
              <a:tblPr firstRow="1" bandRow="1">
                <a:noFill/>
                <a:tableStyleId>{E6E348DB-90A2-48B9-B8D2-BAB38DD424A8}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Item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Valor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Timer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TIM2</a:t>
                      </a: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Canal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CH1 (PA0)</a:t>
                      </a: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Frequência PWM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~50 Hz</a:t>
                      </a: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Período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~20 ms</a:t>
                      </a: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Pulso 0°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530 (~0,53 ms)</a:t>
                      </a: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Pulso 180°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2400 (~2,4 ms)</a:t>
                      </a: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Resolução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/>
                        <a:t>20.000 counts/</a:t>
                      </a:r>
                      <a:r>
                        <a:rPr lang="en-US" sz="1600" u="none" strike="noStrike" cap="none" dirty="0" err="1"/>
                        <a:t>período</a:t>
                      </a:r>
                      <a:endParaRPr sz="16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909</Words>
  <Application>Microsoft Office PowerPoint</Application>
  <PresentationFormat>On-screen Show (4:3)</PresentationFormat>
  <Paragraphs>98</Paragraphs>
  <Slides>14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Congenial</vt:lpstr>
      <vt:lpstr>Consolas</vt:lpstr>
      <vt:lpstr>source-code-pro</vt:lpstr>
      <vt:lpstr>source-serif-pro</vt:lpstr>
      <vt:lpstr>Wingdings</vt:lpstr>
      <vt:lpstr>Office Theme</vt:lpstr>
      <vt:lpstr>Adobe Acrobat Document</vt:lpstr>
      <vt:lpstr>Controle PWM de Servo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Flamino, Reinaldo</cp:lastModifiedBy>
  <cp:revision>13</cp:revision>
  <dcterms:created xsi:type="dcterms:W3CDTF">2013-01-27T09:14:16Z</dcterms:created>
  <dcterms:modified xsi:type="dcterms:W3CDTF">2026-03-04T13:21:33Z</dcterms:modified>
</cp:coreProperties>
</file>